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889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01168"/>
            <a:ext cx="12801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219456"/>
            <a:ext cx="1188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47920"/>
                </a:solidFill>
              </a:rPr>
              <a:t>SPX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0152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SPX PH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0152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FFFFFF"/>
                </a:solidFill>
              </a:rPr>
              <a:t>[Day Month Year]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172200"/>
            <a:ext cx="1154887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41248"/>
            <a:ext cx="11219688" cy="583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</a:rPr>
              <a:t>SPX remains [operationally on track / recovering from X] with [key theme 1] and [key theme 2].</a:t>
            </a:r>
          </a:p>
          <a:p>
            <a:pPr algn="l"/>
            <a:r>
              <a:rPr sz="6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1.  Operations &amp; Financial Performance (p.X–X):  [Key CPO message. Driver or implication.]</a:t>
            </a:r>
          </a:p>
          <a:p>
            <a:pPr algn="l"/>
            <a:r>
              <a:rPr sz="4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2.  Capacity, Network &amp; Expansion (p.X–X):  [Key volume/coverage message.]</a:t>
            </a:r>
          </a:p>
          <a:p>
            <a:pPr algn="l"/>
            <a:r>
              <a:rPr sz="4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3.  Technology &amp; AI Transformation (p.X–X):  [AI pilot status, accuracy %, HC impact.]</a:t>
            </a:r>
          </a:p>
          <a:p>
            <a:pPr algn="l"/>
            <a:r>
              <a:rPr sz="4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4.  Loss Reduction &amp; Automation (p.X–X):  [Loss rate trend, pilot progress.]</a:t>
            </a:r>
          </a:p>
          <a:p>
            <a:pPr algn="l"/>
            <a:r>
              <a:rPr sz="4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5.  Financial Controls &amp; Risk (p.X–X):  [COD exposure, remittance performance.]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115488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B0B0B0"/>
                </a:solidFill>
              </a:rPr>
              <a:t>Posture framing: 'SPX remains … with …'  |  Each item must include a page ref  |  Lead with the metric, not the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OKR, Cost Initiatives
and Budget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Overall OKR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768096"/>
          <a:ext cx="9418320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434840"/>
                <a:gridCol w="1691640"/>
                <a:gridCol w="1691640"/>
              </a:tblGrid>
              <a:tr h="31902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Key Pillar</a:t>
                      </a:r>
                    </a:p>
                  </a:txBody>
                  <a:tcPr>
                    <a:solidFill>
                      <a:srgbClr val="F479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Metrics</a:t>
                      </a:r>
                    </a:p>
                  </a:txBody>
                  <a:tcPr>
                    <a:solidFill>
                      <a:srgbClr val="F479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[Month'YY]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Latest / MTD</a:t>
                      </a:r>
                    </a:p>
                  </a:txBody>
                  <a:tcPr>
                    <a:solidFill>
                      <a:srgbClr val="F479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[Month'YY]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F47920"/>
                    </a:solidFill>
                  </a:tcPr>
                </a:tc>
              </a:tr>
              <a:tr h="31902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Maintain Cost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Advantage</a:t>
                      </a:r>
                    </a:p>
                  </a:txBody>
                  <a:tcPr>
                    <a:solidFill>
                      <a:srgbClr val="FFDA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Overall SPX CPO ($)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rowSpan="5" v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Improve SPX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Volume</a:t>
                      </a:r>
                    </a:p>
                  </a:txBody>
                  <a:tcPr>
                    <a:solidFill>
                      <a:srgbClr val="FFDA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SHP 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SPX LM Coverage / Buyer Coverage (w/ FEX)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SPX LM Coverage / Buyer Coverage (w/o FEX)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SPX FM Coverage / Seller Coverage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Cache % of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rowSpan="5" v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Improve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Logistics Speed</a:t>
                      </a:r>
                    </a:p>
                  </a:txBody>
                  <a:tcPr>
                    <a:solidFill>
                      <a:srgbClr val="FFDA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Average BWT SPX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urban orders delivered D+1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urban orders delivered D+2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non-urban orders delivered D+2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non-urban orders delivered D+3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rowSpan="3" v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Improve SPX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Experience / Quality</a:t>
                      </a:r>
                    </a:p>
                  </a:txBody>
                  <a:tcPr>
                    <a:solidFill>
                      <a:srgbClr val="FFDA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99%ile BWT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Order loss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BSC Coverage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rowSpan="3" v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Enhance Capabilities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262626"/>
                          </a:solidFill>
                        </a:rPr>
                        <a:t>as 3PL</a:t>
                      </a:r>
                    </a:p>
                  </a:txBody>
                  <a:tcPr>
                    <a:solidFill>
                      <a:srgbClr val="FFDA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% Reverse Coverage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Non Shopee 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9024">
                <a:tc vMerge="0">
                  <a:txBody>
                    <a:bodyPr wrap="square"/>
                    <a:lstStyle/>
                    <a:p>
                      <a:pPr algn="ctr"/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62626"/>
                          </a:solidFill>
                        </a:rPr>
                        <a:t>Non Shopee Profit per Order ($)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B0B0B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6565392"/>
            <a:ext cx="5486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262626"/>
                </a:solidFill>
              </a:rPr>
              <a:t>✅  Confident to be on track to meet target        🔴  Miss target — problem solve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P&amp;L and CPO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</a:rPr>
              <a:t>*FX at [rate]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[Month] P&amp;L better by +$X.XM vs target — CPO Xc lower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[Month] P&amp;L better by +$X.XM vs target mainly from [primary driver]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+$X.Xm   [cost saving driver]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+$X.Xm   [volume uplift]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-$X.Xm   [cost increase item]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CPO better by Xc with [main driver]; [secondary driver]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FM     (-0.Xc)  [reason]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SOC    (-0.Xc)  0.Xc [sub-driver 1]   /   0.Xc [sub-driver 2]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LH     (+0.Xc)  [reason]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Hub    (-0.Xc)  [reason]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LM     (+0.Xc)  [reason]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    Claims (+0.Xc)  loss rate X.XX% / recovery rate XX%</a:t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</a:rPr>
              <a:t>Compared to last month, CPO is [lower/higher] by Xc with Xc due to [reason]; balance from [other]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Speed Updates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</a:rPr>
              <a:t>BWT improved to X.XX (Wk of [date]).  Urban BWT X.XX — Top X across SPX Markets.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J&amp;T Latest: X.XX  |  Internal target Mar'26: X.XX  |  Jun'26: X.XX  |  Dec'26: X.XX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Metric                        Wk-4    Wk-3    Wk-2    Wk-1 (Latest)   J&amp;T Latest   Mar'26 Target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Average BWT SPX               X.XX    X.XX    X.XX    X.XX            X.XX          X.XX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Average CDT SPX               X.XX    X.XX    X.XX    X.XX            X.XX          X.XX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Urban CDT                     X.XX    X.XX    X.XX    X.XX            X.XX          X.XX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Non-urban CDT                 X.XX    X.XX    X.XX    X.XX            X.XX          X.XX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% urban orders D+1            XX.X%   XX.X%   XX.X%   XX.X%          XX.X%         XX.X%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% urban orders D+2            XX.X%   XX.X%   XX.X%   XX.X%          XX.X%         XX.X%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% non-urban orders D+2        XX.X%   XX.X%   XX.X%   XX.X%          XX.X%         XX.X%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% non-urban orders D+3        XX.X%   XX.X%   XX.X%   XX.X%          XX.X%         XX.X%</a:t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262626"/>
                </a:solidFill>
              </a:rPr>
              <a:t>Watchpoint: [region/hub] delay driven by [cause]. Resolution by [date].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Operations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Last Mile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LM productivity: X.X parcels/rider/day  (WoW: +X.X / MoM: +X.X)  vs target X.X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NCR: X.X  |  LUZ: X.X  |  VIS: X.X  |  MIN: X.X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Attendance rate: XX.X%  (WoW: +X.Xpp).  Active rider pool: X,XXX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Highlights: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[Positive item — route optimisation / surge handling / high-volume hub]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[Positive item]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Watchpoints: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[Issue + root cause + ETA to resolve]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[Issue + region + solve in progress]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Action items: [Team] to [action] by [date]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Sort Center &amp; Middle Mile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SOC throughput: X,XXX parcels/hr  (WoW: +XX / vs capacity: XX%)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MM on-time departure: XX.X%  |  On-time arrival: XX.X%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Sort accuracy: XX.XXX%  (target: XX.XXX%)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Highlights: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[Throughput gain from process change or equipment]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[Line-haul efficiency: new route, consolidated run]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Watchpoints: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[Hub congestion / delayed departure + cause]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[Staffing gap at [hub] — mitigation plan]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Capacity utilisation: [Hub A] XX%  |  [Hub B] XX%  |  [Hub C] XX%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First Mile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FM SLA compliance: XX.X%  (WoW: +X.Xpp / target: XX.X%)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Pickup success rate: XX.X%  |  Avg pickup attempts: X.X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Seller coverage (SPX FM): XX.X%  (w/ FEX: XX.X%)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Highlights: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[New FM hub or expanded coverage area]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[Seller onboarding milestone: X new sellers activated]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Watchpoints: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[Region with low SLA compliance — root cause]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[High no-show rate at [seller segment] — action underway]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Coverage &amp;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LM Buyer Coverage (w/ FEX): XX.X%  |  (w/o FEX): XX.X%  |  Target: XX.X%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Reverse Coverage: XX.X%  |  BSC Coverage: XX.X%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New branches opened MTD: X  (cumulative: XX vs full-year target: XX)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Provinces with full SPX coverage: XX / XX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Expansion Highlights: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[Region / province newly activated]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[Branch opening: location, capacity, go-live date]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Watchpoints / Upcoming: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[Delayed launch — reason + revised date]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[Preparation for 100% SPX share ramp — decision point: Month]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NSS Coverage: XX.X% of registered 3PL sellers 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Loss &amp;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Order loss rate: X.XX%  (WoW: ±X.XXpp / MoM: ±X.XXpp)  vs target X.XX%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Claims filed MTD: X,XXX  |  Approved: XX.X%  |  Recovery rate: XX.X%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Loss breakdown by type: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Missing: XX.X%  |  Damaged: XX.X%  |  Wrong item: XX.X%  |  [Other]: XX.X%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High-risk segments: [seller type / product category] — [rate] vs avg [rate]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AI Loss Pilot status: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Detection accuracy: ~XX%  |  Scope: [hubs / routes covered]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Investigation automation: [X]% of cases auto-resolved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Next milestone: expand to X hubs by [date]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Actions: [Team] — [preventive measure] targeting [X]% reduction by [date]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NSS — Non-Shopee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NSS ADO: X,XXX  (WoW: +XX / MoM: +XXX)  vs target X,XXX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NSS Profit per Order: $0.XXX  (WoW: ±$0.XXX)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Active 3PL clients: XX  |  New clients onboarded MTD: X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Top verticals: [vertical 1] XX%  |  [vertical 2] XX%  |  [vertical 3] XX%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Highlights: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[New enterprise client won / RFQ closed]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[Volume milestone or product mix improvement]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62626"/>
                </a:solidFill>
              </a:rPr>
              <a:t>Watchpoints: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[Churn risk or SLA miss with 3PL client — action]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[Pricing pressure in [segment]]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Coverage: XX.X% of registered 3PL seller base reachable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"/>
            <a:ext cx="11548872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Technology &amp;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86384"/>
            <a:ext cx="11548872" cy="5971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859536"/>
            <a:ext cx="11219688" cy="578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</a:rPr>
              <a:t>AI Control Tower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Delay detection accuracy: ~XX%  |  Monitoring HC reduction potential: ~XX%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Live on: [hubs/routes]  |  Expanding to: [next scope] by [date]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Hub Copilot / Route Optimisation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Productivity uplift: +X.X parcels/rider  |  Adoption: XX% of riders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[Feature] rolled out to X hubs this week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Automation Pilots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[Process]: [X]% tasks automated  |  Saves ~X FTE equivalent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[Process]: In pilot at [hub] — results by [date]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FinOps / COD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COD exposure: ₱XX.XM  (MoM: ±₱X.XM)  |  Remittance D+X rate: XX.X%</a:t>
            </a:r>
          </a:p>
          <a:p>
            <a:pPr algn="l"/>
            <a:r>
              <a:rPr sz="1100" b="0">
                <a:solidFill>
                  <a:srgbClr val="262626"/>
                </a:solidFill>
              </a:rPr>
              <a:t>    • Buyer perception score: X.X / 5  (WoW: ±X.X)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C45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0152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Supporting data &amp; backup 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